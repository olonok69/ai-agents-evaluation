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3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89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A915-3F6C-42F1-BEFD-E7D452B2D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A847D-62AE-767A-506C-5A8EFB6B7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DCB44-D827-70F7-D90F-5B32CB1A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5A4A1-E9E2-C141-4B8D-39BF3B8D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D3FD0-E752-2CBE-61DA-4CDD5743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39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EFC855B-D9F8-BAAB-09E8-A3E92CB62D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81" r="-1" b="-1"/>
          <a:stretch>
            <a:fillRect/>
          </a:stretch>
        </p:blipFill>
        <p:spPr>
          <a:xfrm>
            <a:off x="-3" y="-3"/>
            <a:ext cx="5650980" cy="5143488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F85BB-65D7-0B6B-A637-312ABF202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7737" y="2971800"/>
            <a:ext cx="4129361" cy="1267806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600" b="1"/>
              <a:t>Agentic Ai</a:t>
            </a:r>
            <a:br>
              <a:rPr lang="en-US" sz="1600" b="1"/>
            </a:br>
            <a:r>
              <a:rPr lang="en-US" sz="1600" b="1"/>
              <a:t>Evaluating Ai Agents</a:t>
            </a:r>
            <a:br>
              <a:rPr lang="en-US" sz="1600" b="1"/>
            </a:br>
            <a:r>
              <a:rPr lang="en-US" sz="1600" b="1" dirty="0" err="1"/>
              <a:t>DeepEval</a:t>
            </a:r>
            <a:r>
              <a:rPr lang="en-US" sz="1600" b="1" dirty="0"/>
              <a:t>, Inspect , Microsoft Evaluation </a:t>
            </a:r>
            <a:r>
              <a:rPr lang="en-US" sz="1600" b="1" dirty="0" err="1"/>
              <a:t>SDk</a:t>
            </a:r>
            <a:br>
              <a:rPr lang="en-US" sz="1600" dirty="0"/>
            </a:br>
            <a:endParaRPr lang="en-GB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719321-7577-2F7C-A762-C2F2DAAC7D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7" r="3000" b="3"/>
          <a:stretch>
            <a:fillRect/>
          </a:stretch>
        </p:blipFill>
        <p:spPr>
          <a:xfrm>
            <a:off x="5740155" y="4"/>
            <a:ext cx="3403848" cy="2907935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93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315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Evaluating AI Agents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828800" y="1737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Techniques, Tools &amp; Frameworks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828800" y="246888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82880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Practitioner's Guide for 2025–2026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704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 Evals Are Different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303520" y="1097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challenges vs. traditional LLM evals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627632"/>
            <a:ext cx="7863840" cy="457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0078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Evaluation Techniques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303520" y="16276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LLM-as-judge, trajectory, multi-turn, tool-use &amp; more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157984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23113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1579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That Matter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303520" y="2157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Correctness, agent-specific, performance &amp; safety tiers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2688336"/>
            <a:ext cx="7863840" cy="457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761488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26883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Benchmarks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303520" y="26883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SWE-bench, GAIA, Inspect AI, DeepEval, Azure AI Eval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0080" y="3218688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291840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3218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Tooling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303520" y="3218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LangSmith, Arize Phoenix, Braintrust, Galileo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3822192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34440" y="3749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Code Examples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530352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DeepEval, Inspect AI &amp; Azure AI Evaluation SDK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40080" y="4279392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352544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34440" y="42793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5303520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leading teams actually do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Agent Evals Are Different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1463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run agents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560320" cy="1463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47472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quality 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barrier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560320" cy="1463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30936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0936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implemented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35224"/>
            <a:ext cx="228600" cy="228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05840" y="28803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fail differently: right tool + wrong args, good plan + poor execution</a:t>
            </a:r>
            <a:endParaRPr lang="en-US" sz="13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38144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05840" y="338328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Non-deterministic: same input → different action sequences each run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41064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88620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Multi-step: must evaluate the trajectory, not just the final output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43984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438912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orchestration: correct selection, argument accuracy, calling efficiency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LangChain State of Agent Engineering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Core Evaluation Techniques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LLM grades agent outputs against structured rubrics. 66% agreement with humans (vs 71% inter-rater). Isolate each dimension into a separate judge call.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331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for calibration. SME review for ground truth, crowdsourced for scale. Use a 'benevolent dictator' model — one domain expert with final say.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786384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22960" y="29718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8016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Benchmarks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SWE-bench, GAIA, τ-bench, WebArena. Dynamic: Anthropic's Bloom auto-generates evals from traits. Databricks Self-Evolving Benchmark.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22960" y="39319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Evaluation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2519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entire reasoning/action chain. LangChain OpenEvals: strict, tool-call-only, ordered-subset, unordered-subset. Grade outcomes not paths.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Core Evaluation Techniques (cont.)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Metrics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pass/fail → nuanced. pass@k: probability ≥1 of k trials succeed. pass^k: ALL k succeed. At 75% per-trial, k=3: pass^k = 42%.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331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coherence, context retention, goal tracking across exchanges. Standard: simulated user (LLM playing user persona). LangSmith thread-level eval.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786384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22960" y="29718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8016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Evaluation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selection, parameter accuracy, calling efficiency, error handling, sequence correctness. Berkeley Function Calling Leaderboard (BFCL).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2588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Techniques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25880" y="42976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simulation environments (OSWorld, SCONE-bench) • Adversarial red-teaming agents (Anthropic's investigator agents) • Microsoft AI Red Teaming Agent (PyRIT framework)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That Matter: The Essential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8412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3152" cy="8412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68680" y="10789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10789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rate • Answer correctness • Faithfulness • Hallucination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463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support agents: 85–90% first-contact resolution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8412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73152" cy="84124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68680" y="2039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Agent-Specific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20391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accuracy (selection + args) • Trajectory correctness • Step efficiency (optimal/actual) • Error recovery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423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Eval treats tool selection + argument correctness as primary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7863840" cy="8412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73152" cy="8412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68680" y="2999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29992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(P50/P95/P99) • Cost per task • Token efficiency (tasks/tokens)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383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inefficiencies compound across thousands of daily interactions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7863840" cy="8412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3152" cy="8412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68680" y="3959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77440" y="39593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resistance • Multi-turn attack resilience • Prompt injection defense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4343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published defenses bypassed at &gt;90% under adaptive attacks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Benchmarks Compared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SWE-bench 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 (GitHub issues)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Princeton NLP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facto standard for coding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assistant Q&amp;A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/ HuggingFace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Tool-use + multi-step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τ²-bench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Sierra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Multi-turn reliability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WebArena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agent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OSWorld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OS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OS-level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AgentBench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Cross-domain (8 envs)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Tsinghua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Holistic capability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BFCL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calling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Berkeley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Tool/API calling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Frameworks Deep Dive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694944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3152" cy="6949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68680" y="1033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AISI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0515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primitives (Dataset → Task → Solver → Scorer). 100+ pre-built evals. Sandboxed Docker/K8s. Agent + multi-agent support. MIT License.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92224"/>
            <a:ext cx="7863840" cy="694944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40080" y="1792224"/>
            <a:ext cx="73152" cy="69494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68680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112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837944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"Pytest for LLMs" — 50+ metrics including 6 agent-specific: TaskCompletion, ToolCorrectness, ArgumentCorrectness, StepEfficiency, PlanQuality, PlanAdherence.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78608"/>
            <a:ext cx="7863840" cy="694944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40080" y="2578608"/>
            <a:ext cx="73152" cy="69494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6868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Eval SDK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62432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agentic evaluators: IntentResolutionEvaluator, TaskAdherenceEvaluator, ToolCallAccuracyEvaluator. Native Foundry Agent integration + converter.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7863840" cy="694944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40080" y="3364992"/>
            <a:ext cx="73152" cy="6949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68680" y="3392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685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341071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evaluation standard. Context Precision/Recall, Faithfulness. Extended with agent metrics: Tool Call Accuracy, Agent Goal Accuracy.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151376"/>
            <a:ext cx="7863840" cy="694944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40080" y="4151376"/>
            <a:ext cx="73152" cy="69494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68680" y="4178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Evals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4471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4197096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Tightest LangGraph integration. AgentEvals trajectory match. Multi-turn evaluation. Insights Agent for pattern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Tooling: Observability &amp; Eval Stack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Tightest LangChain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 traces/mo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Arize Phoenix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open-source, OTel-native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self-hosted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Vendor-agnostic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Braintrust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CI/CD iteration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trace spans/mo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Eval-first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Sub-200ms eval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 traces/mo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guardrails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Patronus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Research-grade eval (Lynx)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from $10/1k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W&amp;B Weave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@weave.op decorator tracing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Bundled in W&amp;B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teams on W&amp;B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566160"/>
            <a:ext cx="7863840" cy="73152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is the convergence standard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Semantic Conventions (v1.37+) standardize prompt, response, token, and tool-call schemas. Agent Framework Convention under active development.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Hands-On: DeepEval Agent Evaluation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3931920"/>
          </a:xfrm>
          <a:prstGeom prst="rect">
            <a:avLst/>
          </a:prstGeom>
          <a:solidFill>
            <a:srgbClr val="1629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deepeval.tracing import observe, update_current_span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deepeval.metrics import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ToolCorrectnessMetric, PlanQualityMetric,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PlanAdherenceMetric, TaskCompletionMetric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deepeval.test_case import LLMTestCase, ToolCall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deepeval.dataset import EvaluationDataset, Golden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 agent-specific metrics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tool_correctness = ToolCorrectnessMetric(threshold=0.7)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plan_quality     = PlanQualityMetric()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plan_adherence   = PlanAdherenceMetric()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Decorate your agent with @observe for tracing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@observe(type="agent")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travel_agent(query: str):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@observe(type="llm", metrics=[plan_quality, tool_correctness])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reason_and_plan(q):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Agent reasoning + tool calls happen here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flights = search_flights("NYC", "London", "2025-06-01")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update_current_span(test_case=LLMTestCase(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input=q,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actual_output=f"Found {len(flights)} flights",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tools_called=[ToolCall(name="search_flights",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input_params={"origin":"NYC","dest":"London"})]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reason_and_plan(query)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evaluation on a dataset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= EvaluationDataset(goldens=[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Golden(input="Find flights NYC to London June 2025")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golden in dataset.evals_iterator():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travel_agent(golden.input)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deepeval  •  Full notebook: 01_deepeval_agent_eval.py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Hands-On: Inspect AI (UK AISI)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3931920"/>
          </a:xfrm>
          <a:prstGeom prst="rect">
            <a:avLst/>
          </a:prstGeom>
          <a:solidFill>
            <a:srgbClr val="1629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inspect_ai import Task, task, eval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inspect_ai.dataset import Sample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inspect_ai.scorer import match, model_graded_fact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inspect_ai.solver import generate, use_tools, system_message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inspect_ai.tool import tool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custom tools for the agent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search_knowledge_base():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 execute(query: str) -&gt; str: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"""Search the internal knowledge base for information."""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f"Result for '{query}': Company policy states..."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execute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an agent evaluation task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customer_support_agent():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Task(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dataset=[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Sample(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input="What is the refund policy for orders over $100?",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target="30-day full refund for orders over $100"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Sample(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input="How do I reset my password?",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target="Go to Settings &gt; Security &gt; Reset Password"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solver=[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system_message("You are a customer support agent..."),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use_tools([search_knowledge_base()]),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generate(),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scorer=model_graded_fact(),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Run: inspect eval customer_support.py --model openai/gpt-4o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inspect-ai  •  Full notebook: 02_inspect_ai_agent_eval.py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Hands-On: Azure AI Evaluation SDK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3931920"/>
          </a:xfrm>
          <a:prstGeom prst="rect">
            <a:avLst/>
          </a:prstGeom>
          <a:solidFill>
            <a:srgbClr val="1629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azure.ai.evaluation import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IntentResolutionEvaluator,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TaskAdherenceEvaluator,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ToolCallAccuracyEvaluator,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evaluate,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model_config =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"azure_deployment": os.getenv("AZURE_DEPLOYMENT_NAME"),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"api_key": os.getenv("AZURE_API_KEY"),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"azure_endpoint": os.getenv("AZURE_ENDPOINT"),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"api_version": os.getenv("AZURE_API_VERSION"),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 the three agentic evaluators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intent_eval = IntentResolutionEvaluator(model_config=model_config)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task_eval   = TaskAdherenceEvaluator(model_config=model_config)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tool_eval   = ToolCallAccuracyEvaluator(model_config=model_config)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evaluation — simple string format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intent_eval(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query="What are the opening hours of the Eiffel Tower?",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response="Opening hours are 9:00 AM to 11:00 PM."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Batch evaluation with JSONL dataset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evaluate(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data="eval_data.jsonl",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evaluators={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"intent": intent_eval,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"task_adherence": task_eval,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"tool_accuracy": tool_eval,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azure-ai-evaluation  •  Full notebook: 03_azure_ai_eval_agents.py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Practices: What Leading Teams 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56692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1556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332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20–50 tasks from real failures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88720" y="12801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changes have large effect sizes. Convert manual checks into automated test cases. — Anthropic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664208"/>
            <a:ext cx="78638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7393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691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evaluation pyramid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88720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Code assertions (every commit) → L2: LLM-as-judge (cadence) → L3: Human eval (major changes) — Hamel Husain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40080" y="2322576"/>
            <a:ext cx="7863840" cy="56692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323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3500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non-determinism with multiple trials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188720" y="2596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3–10 independent trials per task. Use isolated environments. Report pass@k and pass^k.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40080" y="2980944"/>
            <a:ext cx="78638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9067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0083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transcripts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188720" y="32552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bugs masquerade as reasoning failures. One extraction bug moved a benchmark from 50% to 73%.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40080" y="3639312"/>
            <a:ext cx="7863840" cy="56692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4904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366674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evals into CI/CD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88720" y="3913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 → unit tests → integration → e2e → offline evals → quality gates. Use DeepEval pytest or Braintrust GitHub Action.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40080" y="4297680"/>
            <a:ext cx="78638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07408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88720" y="43251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balanced eval suites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1188720" y="45720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both WHEN behaviors SHOULD and SHOULDN'T occur. One-sided evals → one-sided optimization.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005840"/>
            <a:ext cx="7863840" cy="960120"/>
          </a:xfrm>
          <a:prstGeom prst="rect">
            <a:avLst/>
          </a:prstGeom>
          <a:solidFill>
            <a:srgbClr val="1629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10058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463040" y="1143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Output-only → Trajectory-aware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1508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agents fail, not just THAT they fail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148840"/>
            <a:ext cx="7863840" cy="960120"/>
          </a:xfrm>
          <a:prstGeom prst="rect">
            <a:avLst/>
          </a:prstGeom>
          <a:solidFill>
            <a:srgbClr val="1629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822960" y="21488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463040" y="2286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is the standard layer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63040" y="2651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vendor lock-in across fragmented tools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291840"/>
            <a:ext cx="7863840" cy="960120"/>
          </a:xfrm>
          <a:prstGeom prst="rect">
            <a:avLst/>
          </a:prstGeom>
          <a:solidFill>
            <a:srgbClr val="1629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822960" y="32918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46304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Eval-driven development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463040" y="3794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evals BEFORE writing agent logic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822960" y="45079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Stack:  Inspect AI (capability/safety) + DeepEval (CI/CD) + LangSmith or Arize Phoenix (observability) + Azure AI Eval (enterprise)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 &amp; References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06424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0515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"Demystifying evals for AI agents" (Jan 2026)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90472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43560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AISI — Inspect AI: inspect.aisi.org.uk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181965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AI — DeepEval: github.com/confident-ai/deepeval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58568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220370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— Azure AI Evaluation SDK: pypi.org/project/azure-ai-evaluation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42616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258775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— AgenticEvals repo: github.com/azure-samples/AgenticEvals</a:t>
            </a:r>
            <a:endParaRPr lang="en-US" sz="12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26664"/>
            <a:ext cx="201168" cy="2011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29718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State of Agent Engineering 2026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10712"/>
            <a:ext cx="201168" cy="20116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60120" y="335584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Hamel Husain — "LLM Evals: Everything You Need to Know"</a:t>
            </a:r>
            <a:endParaRPr lang="en-US" sz="12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94760"/>
            <a:ext cx="201168" cy="20116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60120" y="373989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Agent Evaluation Readiness Checklist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64008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21" name="Text 11"/>
          <p:cNvSpPr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juan@closerstillmedia.com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2049</Words>
  <Application>Microsoft Office PowerPoint</Application>
  <PresentationFormat>On-screen Show (16:9)</PresentationFormat>
  <Paragraphs>314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Agentic Ai Evaluating Ai Agents DeepEval, Inspect , Microsoft Evaluation SDk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AI Agents: Techniques, Tools &amp; Frameworks</dc:title>
  <dc:subject>PptxGenJS Presentation</dc:subject>
  <dc:creator>Juan Salvador Huertas Romero</dc:creator>
  <cp:lastModifiedBy>Jan SHR</cp:lastModifiedBy>
  <cp:revision>2</cp:revision>
  <dcterms:created xsi:type="dcterms:W3CDTF">2026-04-04T16:55:46Z</dcterms:created>
  <dcterms:modified xsi:type="dcterms:W3CDTF">2026-04-05T12:59:31Z</dcterms:modified>
</cp:coreProperties>
</file>